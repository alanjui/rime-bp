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5" r:id="rId3"/>
    <p:sldId id="269" r:id="rId4"/>
    <p:sldId id="27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10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69E7F-F3B0-256F-4C20-DD03F1D4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415F46-DF18-1D13-E5D7-7D484F0EF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895F17-9F7C-463E-7BC3-38973EF3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A7C01F-8105-C29A-B265-90C6FD70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7462C4-B5EF-1EAA-DEA6-9B9DE2CE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0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9C328-1446-419E-63E6-9CDE2D6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BED4C2-D1A2-47C4-86FD-F8AC7D17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B660B-41BD-11B7-1586-E7D92734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1B4F5F-D81C-21F2-6C96-709AF71A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51AC85-7F85-7447-2016-73D47017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30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9F42F-75AD-E5C0-0D13-49352B4E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AEC28-1052-CD39-738F-35072D0F7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F2E7E5-3921-75C9-CF46-92D350FB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42E797-60DC-FD36-72EA-DF9FA47D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8EBA8-853E-B7F7-7F9D-AF7C82FB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99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172D8E-ECC4-C078-CD0A-9EAA83A2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812FE-DE34-E8AE-CC3F-88E42B82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41A2ED-0541-9E5D-007B-C3E84859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0407C4-9F55-2BBB-9220-0F7AC2F8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0B2B681-608A-DFA5-FFA3-7F4D3C81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14B1BA-6749-BAC4-57EC-279DE858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88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DFB54F-D7E5-67B6-DD48-DD5B3DCD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A6AAD4-F6A9-E622-1EC4-60ACF7C4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0C2F1-B51D-5E6D-5DDA-E044493DA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B5E2EA-F52B-B386-A77A-2214CD5E1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595469-C0E6-4C7F-B1B5-93E419058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AA3A2D-B55B-C963-CB69-52318B72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BB8C544-9EC3-9926-171A-C33C6C89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4EDA30-3AE6-E866-16F8-B25753B6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547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938A55-D2D6-D094-CEE1-B9EB4C3C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17222F-A1EF-0ED7-B882-47E0A0539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04D277-1E86-AE81-EAA3-69CBA4687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969ADA-59AD-4612-E2C6-86C9607C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684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702FE1-A579-39FC-DFA7-4C919631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9809D3-F1CD-0D0A-13BC-A7B2B3CD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8A612C-F323-F5CF-5B34-116B139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29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AA3C7-EAD5-3117-3FF2-5594AA2EB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BD4D4B-98FE-FB9C-8C3C-06EBED22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4C54F1-1680-0479-4942-62587734D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0DA373-EDA0-0175-57FC-2F3CCF64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880A6-F11F-B324-6B5D-8725ED85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9D35CD-1CFB-DCF6-C6EB-392039D2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47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6DFC37-1743-80D2-315B-7C3EE28B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D7D0541-EE49-7E9C-E5DD-195096346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C1590E-C8C4-7B96-6F35-18B5B5F3E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075078-01B2-8140-004F-54D6B950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3408D7-EACA-7B48-9D09-057AFC2EA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F74BC4-8CB4-209D-7E12-6DDE4E8F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036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D4223-1A38-71AD-0CE8-D67E7982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209CF6-7789-32DA-73B2-E1AD4FD5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1D5414-CA3A-6240-12E3-A8C6D41DC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F46278-922B-B21B-D511-4EE0876A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DB745D-F52B-5258-8C9C-897E04C6C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459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E83468C-8F1E-07F4-FFC3-77EA2E08A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D48D43-88B6-FFF4-47F2-D4CA7A0AC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4C5071-C797-FAB6-5825-66867B19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85FA58-380C-9A83-9B78-C5B77C34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DCD033-690A-D5CE-2167-F47751D5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8A621C5-DD78-94FB-AA59-50EB633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CD2C11-3A11-FE7D-77B2-19C34139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2045B1-0C36-794F-E035-17C5DABB7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076C2-5F6F-472B-BFF8-3C0541CCB8F3}" type="datetimeFigureOut">
              <a:rPr lang="zh-TW" altLang="en-US" smtClean="0"/>
              <a:t>2025/11/24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9B8B-5388-42C2-861B-01B6528D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DAD727-D0E1-BCAE-8EC4-4C09E2A4F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3D4D31-319F-4B6F-97BB-8B5BED1F57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69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FB3A4-D6F5-A1AF-1392-DD1A793DD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閩拚四聲八調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F99307-6F94-1490-4AC0-8ABDEC428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122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CFA2-B8FF-37C0-71DE-1E063B12A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B262F5D-A9AD-52D3-5841-E54FA11940B9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7E2780BE-950E-9EE6-3136-C2F6BB38E53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5E334372-2DB9-6A6F-791F-7A820A95C6EE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君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6BA878B9-CB0E-737E-28D9-75DCD614B622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群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4CC1C47D-B960-71C5-BC09-0228CDF55D77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滾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742BE68C-5DA7-21CB-A449-939C20B071A7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棍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550D0DB3-E96A-B1C8-4BC5-A4D1C112E9EF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郡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（六）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0D89FFD-D299-3397-52F0-F90890C4FA28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557300E-958F-7F47-194B-CB409CF41D6A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FE498BD-7559-54AA-8C44-778CE042E499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9CCA9985-6F1E-578F-1957-C6D377A7B80D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FEA6552-C745-2681-0699-5DEDF3B03F9B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4A3DAC8-7F3B-BB33-143D-6993855E5317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B533186F-BCA1-E562-6BBD-F12FD2EE5D03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541A9791-0D94-B1C1-4D90-A7A865BE068A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滑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E060FEE1-8DB6-727D-C255-E0E40598C01C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D027F7BB-8C23-894B-D45A-0A8068CC5D61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9E930D78-9D3D-C93B-872D-1EFB53E75A30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DE5BF71F-0B86-91AB-2ED6-7953D0E72E02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DDC73DD4-3EE1-61B9-BFE3-DE40E64035ED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16F7CD5-A476-E97A-AC35-EF1DBF2422DD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340C8EE-B359-EDB6-5A4C-A1E6AA93BC37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A84DE791-20F2-3405-1C04-650DA6E82801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201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3608-C704-54A8-F25E-96674C761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9D30622C-6775-F3B4-D094-D4B0E4917B02}"/>
              </a:ext>
            </a:extLst>
          </p:cNvPr>
          <p:cNvCxnSpPr>
            <a:cxnSpLocks/>
          </p:cNvCxnSpPr>
          <p:nvPr/>
        </p:nvCxnSpPr>
        <p:spPr>
          <a:xfrm>
            <a:off x="0" y="343117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4">
            <a:extLst>
              <a:ext uri="{FF2B5EF4-FFF2-40B4-BE49-F238E27FC236}">
                <a16:creationId xmlns:a16="http://schemas.microsoft.com/office/drawing/2014/main" id="{4C227320-65DC-B90E-4790-82ABF7735461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662" t="25431" r="4462" b="22640"/>
          <a:stretch/>
        </p:blipFill>
        <p:spPr>
          <a:xfrm>
            <a:off x="731802" y="680033"/>
            <a:ext cx="10963311" cy="5876925"/>
          </a:xfrm>
          <a:prstGeom prst="rect">
            <a:avLst/>
          </a:prstGeom>
        </p:spPr>
      </p:pic>
      <p:sp>
        <p:nvSpPr>
          <p:cNvPr id="11" name="文字方塊 9">
            <a:extLst>
              <a:ext uri="{FF2B5EF4-FFF2-40B4-BE49-F238E27FC236}">
                <a16:creationId xmlns:a16="http://schemas.microsoft.com/office/drawing/2014/main" id="{8EA42082-9BE5-0DFA-C4B8-97C2AE2D4929}"/>
              </a:ext>
            </a:extLst>
          </p:cNvPr>
          <p:cNvSpPr txBox="1"/>
          <p:nvPr/>
        </p:nvSpPr>
        <p:spPr>
          <a:xfrm>
            <a:off x="1241426" y="646373"/>
            <a:ext cx="1455737" cy="150971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東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（一）陰平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1FA079B8-65A1-3435-196A-3C4C028EE680}"/>
              </a:ext>
            </a:extLst>
          </p:cNvPr>
          <p:cNvSpPr txBox="1"/>
          <p:nvPr/>
        </p:nvSpPr>
        <p:spPr>
          <a:xfrm>
            <a:off x="7882294" y="5142138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同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（二）陽平</a:t>
            </a: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0CAD5FDD-3EE5-649B-9067-6C548FA5457A}"/>
              </a:ext>
            </a:extLst>
          </p:cNvPr>
          <p:cNvSpPr txBox="1"/>
          <p:nvPr/>
        </p:nvSpPr>
        <p:spPr>
          <a:xfrm>
            <a:off x="5485588" y="617667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黨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（三）上声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A90444F9-92CE-C5FF-CB61-8585D91B406A}"/>
              </a:ext>
            </a:extLst>
          </p:cNvPr>
          <p:cNvSpPr txBox="1"/>
          <p:nvPr/>
        </p:nvSpPr>
        <p:spPr>
          <a:xfrm>
            <a:off x="3259138" y="5071058"/>
            <a:ext cx="1455737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棟</a:t>
            </a:r>
            <a:r>
              <a:rPr lang="zh-TW" altLang="en-US" sz="4000" dirty="0"/>
              <a:t> </a:t>
            </a:r>
            <a:br>
              <a:rPr lang="en-US" altLang="zh-TW" sz="4000" dirty="0"/>
            </a:b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（五）陰去</a:t>
            </a:r>
            <a:r>
              <a:rPr lang="zh-CN" altLang="en-US" sz="1800" dirty="0">
                <a:solidFill>
                  <a:srgbClr val="C00000"/>
                </a:solidFill>
              </a:rPr>
              <a:t> </a:t>
            </a:r>
            <a:endParaRPr lang="zh-TW" altLang="en-US" sz="1800" dirty="0">
              <a:solidFill>
                <a:srgbClr val="C00000"/>
              </a:solidFill>
            </a:endParaRPr>
          </a:p>
        </p:txBody>
      </p:sp>
      <p:sp>
        <p:nvSpPr>
          <p:cNvPr id="15" name="文字方塊 15">
            <a:extLst>
              <a:ext uri="{FF2B5EF4-FFF2-40B4-BE49-F238E27FC236}">
                <a16:creationId xmlns:a16="http://schemas.microsoft.com/office/drawing/2014/main" id="{8ACAD6DB-CA4D-380C-BB72-08222D32F286}"/>
              </a:ext>
            </a:extLst>
          </p:cNvPr>
          <p:cNvSpPr txBox="1"/>
          <p:nvPr/>
        </p:nvSpPr>
        <p:spPr>
          <a:xfrm>
            <a:off x="1969293" y="2676314"/>
            <a:ext cx="1455738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（六）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陽去</a:t>
            </a:r>
            <a:endParaRPr lang="en-US" altLang="zh-CN" sz="1800" b="0" i="0" u="none" strike="noStrike" dirty="0">
              <a:solidFill>
                <a:srgbClr val="C00000"/>
              </a:solidFill>
              <a:effectLst/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55B9683-B571-70AF-DE1D-330DEC2ACC1C}"/>
              </a:ext>
            </a:extLst>
          </p:cNvPr>
          <p:cNvCxnSpPr>
            <a:cxnSpLocks/>
          </p:cNvCxnSpPr>
          <p:nvPr/>
        </p:nvCxnSpPr>
        <p:spPr>
          <a:xfrm>
            <a:off x="6848878" y="1034080"/>
            <a:ext cx="560388" cy="1572014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D7A083A3-83EA-6597-A957-4C72328233B1}"/>
              </a:ext>
            </a:extLst>
          </p:cNvPr>
          <p:cNvCxnSpPr>
            <a:cxnSpLocks/>
          </p:cNvCxnSpPr>
          <p:nvPr/>
        </p:nvCxnSpPr>
        <p:spPr>
          <a:xfrm flipV="1">
            <a:off x="8750300" y="3984415"/>
            <a:ext cx="465932" cy="1459885"/>
          </a:xfrm>
          <a:prstGeom prst="straightConnector1">
            <a:avLst/>
          </a:prstGeom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392B44DA-2BDF-A9B1-EB65-EA2BEAB36EB1}"/>
              </a:ext>
            </a:extLst>
          </p:cNvPr>
          <p:cNvSpPr txBox="1"/>
          <p:nvPr/>
        </p:nvSpPr>
        <p:spPr>
          <a:xfrm>
            <a:off x="7456046" y="2085394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高降調</a:t>
            </a:r>
          </a:p>
        </p:txBody>
      </p:sp>
      <p:sp>
        <p:nvSpPr>
          <p:cNvPr id="19" name="文字方塊 24">
            <a:extLst>
              <a:ext uri="{FF2B5EF4-FFF2-40B4-BE49-F238E27FC236}">
                <a16:creationId xmlns:a16="http://schemas.microsoft.com/office/drawing/2014/main" id="{C792142F-9030-7DCC-6C8C-196EC3053210}"/>
              </a:ext>
            </a:extLst>
          </p:cNvPr>
          <p:cNvSpPr txBox="1"/>
          <p:nvPr/>
        </p:nvSpPr>
        <p:spPr>
          <a:xfrm>
            <a:off x="8056351" y="3806958"/>
            <a:ext cx="989012" cy="52228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低升調</a:t>
            </a: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97B0E00F-22D2-1136-CBC7-343554985E6C}"/>
              </a:ext>
            </a:extLst>
          </p:cNvPr>
          <p:cNvCxnSpPr>
            <a:cxnSpLocks/>
          </p:cNvCxnSpPr>
          <p:nvPr/>
        </p:nvCxnSpPr>
        <p:spPr>
          <a:xfrm>
            <a:off x="0" y="801461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B004291-40AE-0018-8718-4B4EE57F187A}"/>
              </a:ext>
            </a:extLst>
          </p:cNvPr>
          <p:cNvCxnSpPr>
            <a:cxnSpLocks/>
          </p:cNvCxnSpPr>
          <p:nvPr/>
        </p:nvCxnSpPr>
        <p:spPr>
          <a:xfrm>
            <a:off x="0" y="6530943"/>
            <a:ext cx="12192000" cy="0"/>
          </a:xfrm>
          <a:prstGeom prst="line">
            <a:avLst/>
          </a:prstGeom>
          <a:ln w="571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30">
            <a:extLst>
              <a:ext uri="{FF2B5EF4-FFF2-40B4-BE49-F238E27FC236}">
                <a16:creationId xmlns:a16="http://schemas.microsoft.com/office/drawing/2014/main" id="{B08C94C8-58CC-1833-6839-90E925D530F4}"/>
              </a:ext>
            </a:extLst>
          </p:cNvPr>
          <p:cNvSpPr txBox="1"/>
          <p:nvPr/>
        </p:nvSpPr>
        <p:spPr>
          <a:xfrm>
            <a:off x="8989713" y="2686237"/>
            <a:ext cx="1455737" cy="15097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督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（七）陰入</a:t>
            </a:r>
            <a:endParaRPr lang="zh-TW" altLang="en-US" sz="1800" dirty="0">
              <a:solidFill>
                <a:srgbClr val="C00000"/>
              </a:solidFill>
              <a:latin typeface="霞鶩文楷 TC" panose="02020500000000000000" pitchFamily="18" charset="-120"/>
              <a:ea typeface="霞鶩文楷 TC" panose="02020500000000000000" pitchFamily="18" charset="-120"/>
            </a:endParaRPr>
          </a:p>
        </p:txBody>
      </p:sp>
      <p:sp>
        <p:nvSpPr>
          <p:cNvPr id="23" name="文字方塊 31">
            <a:extLst>
              <a:ext uri="{FF2B5EF4-FFF2-40B4-BE49-F238E27FC236}">
                <a16:creationId xmlns:a16="http://schemas.microsoft.com/office/drawing/2014/main" id="{4F45535B-F032-A1A3-D7F8-E4FF3DD48E3C}"/>
              </a:ext>
            </a:extLst>
          </p:cNvPr>
          <p:cNvSpPr txBox="1"/>
          <p:nvPr/>
        </p:nvSpPr>
        <p:spPr>
          <a:xfrm>
            <a:off x="9700107" y="602117"/>
            <a:ext cx="1455738" cy="150812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獨</a:t>
            </a:r>
            <a:br>
              <a:rPr lang="en-US" altLang="zh-TW" sz="4000" dirty="0"/>
            </a:br>
            <a:r>
              <a:rPr lang="zh-TW" altLang="en-US" sz="1800" b="0" i="0" u="none" strike="noStrike" dirty="0">
                <a:solidFill>
                  <a:srgbClr val="C00000"/>
                </a:solidFill>
                <a:effectLst/>
                <a:latin typeface="霞鶩文楷 TC" panose="02020500000000000000" pitchFamily="18" charset="-120"/>
                <a:ea typeface="霞鶩文楷 TC" panose="02020500000000000000" pitchFamily="18" charset="-120"/>
              </a:rPr>
              <a:t>（八）</a:t>
            </a:r>
            <a:r>
              <a:rPr lang="zh-TW" altLang="en-US" sz="1800" dirty="0">
                <a:solidFill>
                  <a:srgbClr val="C00000"/>
                </a:solidFill>
                <a:latin typeface="霞鶩文楷 TC" panose="02020500000000000000" pitchFamily="18" charset="-120"/>
                <a:ea typeface="霞鶩文楷 TC" panose="02020500000000000000" pitchFamily="18" charset="-120"/>
              </a:rPr>
              <a:t>陽入</a:t>
            </a:r>
          </a:p>
        </p:txBody>
      </p:sp>
      <p:sp>
        <p:nvSpPr>
          <p:cNvPr id="24" name="文字方塊 32">
            <a:extLst>
              <a:ext uri="{FF2B5EF4-FFF2-40B4-BE49-F238E27FC236}">
                <a16:creationId xmlns:a16="http://schemas.microsoft.com/office/drawing/2014/main" id="{F4EBB479-D4ED-7C06-5BDD-67388778D316}"/>
              </a:ext>
            </a:extLst>
          </p:cNvPr>
          <p:cNvSpPr txBox="1"/>
          <p:nvPr/>
        </p:nvSpPr>
        <p:spPr>
          <a:xfrm>
            <a:off x="10578018" y="2968044"/>
            <a:ext cx="987425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低促調</a:t>
            </a:r>
          </a:p>
        </p:txBody>
      </p:sp>
      <p:sp>
        <p:nvSpPr>
          <p:cNvPr id="25" name="文字方塊 39">
            <a:extLst>
              <a:ext uri="{FF2B5EF4-FFF2-40B4-BE49-F238E27FC236}">
                <a16:creationId xmlns:a16="http://schemas.microsoft.com/office/drawing/2014/main" id="{1C7E9BED-4E88-1758-2891-3A0806EAA9AC}"/>
              </a:ext>
            </a:extLst>
          </p:cNvPr>
          <p:cNvSpPr txBox="1"/>
          <p:nvPr/>
        </p:nvSpPr>
        <p:spPr>
          <a:xfrm>
            <a:off x="11331575" y="897459"/>
            <a:ext cx="989013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高促調</a:t>
            </a:r>
          </a:p>
        </p:txBody>
      </p:sp>
      <p:sp>
        <p:nvSpPr>
          <p:cNvPr id="32" name="文字方塊 23">
            <a:extLst>
              <a:ext uri="{FF2B5EF4-FFF2-40B4-BE49-F238E27FC236}">
                <a16:creationId xmlns:a16="http://schemas.microsoft.com/office/drawing/2014/main" id="{210F91EC-A406-34EB-EB07-23E636023705}"/>
              </a:ext>
            </a:extLst>
          </p:cNvPr>
          <p:cNvSpPr txBox="1"/>
          <p:nvPr/>
        </p:nvSpPr>
        <p:spPr>
          <a:xfrm>
            <a:off x="2607857" y="807035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高音調</a:t>
            </a:r>
          </a:p>
        </p:txBody>
      </p:sp>
      <p:sp>
        <p:nvSpPr>
          <p:cNvPr id="33" name="文字方塊 23">
            <a:extLst>
              <a:ext uri="{FF2B5EF4-FFF2-40B4-BE49-F238E27FC236}">
                <a16:creationId xmlns:a16="http://schemas.microsoft.com/office/drawing/2014/main" id="{23FC833D-024F-B6EE-F7EE-9966F49FB51A}"/>
              </a:ext>
            </a:extLst>
          </p:cNvPr>
          <p:cNvSpPr txBox="1"/>
          <p:nvPr/>
        </p:nvSpPr>
        <p:spPr>
          <a:xfrm>
            <a:off x="3259138" y="2967621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中音調</a:t>
            </a:r>
          </a:p>
        </p:txBody>
      </p:sp>
      <p:sp>
        <p:nvSpPr>
          <p:cNvPr id="34" name="文字方塊 23">
            <a:extLst>
              <a:ext uri="{FF2B5EF4-FFF2-40B4-BE49-F238E27FC236}">
                <a16:creationId xmlns:a16="http://schemas.microsoft.com/office/drawing/2014/main" id="{411DDAE3-9054-B515-29DC-498E15A2D6E0}"/>
              </a:ext>
            </a:extLst>
          </p:cNvPr>
          <p:cNvSpPr txBox="1"/>
          <p:nvPr/>
        </p:nvSpPr>
        <p:spPr>
          <a:xfrm>
            <a:off x="4904403" y="6005286"/>
            <a:ext cx="989012" cy="52070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600" dirty="0">
                <a:solidFill>
                  <a:srgbClr val="FF0000"/>
                </a:solidFill>
                <a:latin typeface="Noto Sans TC SemiBold" panose="020B0200000000000000" pitchFamily="34" charset="-128"/>
                <a:ea typeface="Noto Sans TC SemiBold" panose="020B0200000000000000" pitchFamily="34" charset="-128"/>
              </a:rPr>
              <a:t>低音調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2B374B7-AAF0-D6F3-CA20-E5825F84F3B5}"/>
              </a:ext>
            </a:extLst>
          </p:cNvPr>
          <p:cNvSpPr txBox="1"/>
          <p:nvPr/>
        </p:nvSpPr>
        <p:spPr>
          <a:xfrm>
            <a:off x="-56529" y="5830851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Do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0260433-11A3-40A8-99A9-B2DF546E9155}"/>
              </a:ext>
            </a:extLst>
          </p:cNvPr>
          <p:cNvSpPr txBox="1"/>
          <p:nvPr/>
        </p:nvSpPr>
        <p:spPr>
          <a:xfrm>
            <a:off x="-21432" y="276932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Mi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2ADB6A4-AC53-3D69-7BC9-DAE4BCE0CD6A}"/>
              </a:ext>
            </a:extLst>
          </p:cNvPr>
          <p:cNvSpPr txBox="1"/>
          <p:nvPr/>
        </p:nvSpPr>
        <p:spPr>
          <a:xfrm>
            <a:off x="-32537" y="123293"/>
            <a:ext cx="989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b="1" dirty="0">
                <a:solidFill>
                  <a:srgbClr val="7030A0"/>
                </a:solidFill>
              </a:rPr>
              <a:t>So</a:t>
            </a:r>
            <a:endParaRPr lang="zh-TW" alt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91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457D606-8572-1C8A-B65C-92E808B2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【</a:t>
            </a:r>
            <a:r>
              <a:rPr lang="zh-TW" altLang="en-US" dirty="0"/>
              <a:t>閩拼八聲調</a:t>
            </a:r>
            <a:r>
              <a:rPr lang="en-US" altLang="zh-TW" dirty="0"/>
              <a:t>】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A9EAE9-85E0-1677-9EAC-48B1E309E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16" y="1431618"/>
            <a:ext cx="9569568" cy="516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20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Aptos Display"/>
        <a:ea typeface="Noto Serif TC Black"/>
        <a:cs typeface=""/>
      </a:majorFont>
      <a:minorFont>
        <a:latin typeface="Aptos"/>
        <a:ea typeface="Noto Sans TC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寬螢幕</PresentationFormat>
  <Paragraphs>36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Noto Sans TC SemiBold</vt:lpstr>
      <vt:lpstr>Noto Serif TC Black</vt:lpstr>
      <vt:lpstr>霞鶩文楷 TC</vt:lpstr>
      <vt:lpstr>Aptos</vt:lpstr>
      <vt:lpstr>Aptos Display</vt:lpstr>
      <vt:lpstr>Arial</vt:lpstr>
      <vt:lpstr>Office 佈景主題</vt:lpstr>
      <vt:lpstr>閩拚四聲八調</vt:lpstr>
      <vt:lpstr>PowerPoint 簡報</vt:lpstr>
      <vt:lpstr>PowerPoint 簡報</vt:lpstr>
      <vt:lpstr>【閩拼八聲調】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19</cp:revision>
  <dcterms:created xsi:type="dcterms:W3CDTF">2024-08-14T07:43:40Z</dcterms:created>
  <dcterms:modified xsi:type="dcterms:W3CDTF">2025-11-24T05:50:01Z</dcterms:modified>
</cp:coreProperties>
</file>